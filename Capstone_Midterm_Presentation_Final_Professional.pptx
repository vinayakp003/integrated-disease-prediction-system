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003366"/>
                </a:solidFill>
              </a:defRPr>
            </a:pPr>
            <a:r>
              <a:t>Integrated Disease Prediction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>
                <a:solidFill>
                  <a:srgbClr val="000000"/>
                </a:solidFill>
              </a:defRPr>
            </a:pPr>
            <a:r>
              <a:t>Course: UCF439 Capstone Project</a:t>
            </a:r>
          </a:p>
          <a:p>
            <a:pPr algn="ctr">
              <a:defRPr sz="2400">
                <a:solidFill>
                  <a:srgbClr val="000000"/>
                </a:solidFill>
              </a:defRPr>
            </a:pPr>
            <a:r>
              <a:t>Mode: Mode A</a:t>
            </a:r>
          </a:p>
          <a:p>
            <a:pPr algn="ctr">
              <a:defRPr sz="2400">
                <a:solidFill>
                  <a:srgbClr val="000000"/>
                </a:solidFill>
              </a:defRPr>
            </a:pPr>
            <a:r>
              <a:t>Group Members: [Member Names]</a:t>
            </a:r>
          </a:p>
          <a:p>
            <a:pPr algn="ctr">
              <a:defRPr sz="2400">
                <a:solidFill>
                  <a:srgbClr val="000000"/>
                </a:solidFill>
              </a:defRPr>
            </a:pPr>
            <a:r>
              <a:t>Faculty Advisor: [Advisor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Motivation: Clinical risk prediction tools often evaluate diseases independently despite shared physiological pathways in cardiometabolic disorders.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Objective: Develop an integrated risk assessment framework aggregating multi-organ risk factors.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Target Domains: Cardiovascular Disease, Stroke, Diabetes, and Chronic Kidney Disease.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Result: Implementation of the Cardiometabolic Health Risk Index (CHRI) for holistic clinical screening.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Background &amp; Related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Standards: Models like the Framingham Heart Risk Score (D’Agostino et al., 2008) set cardiovascular benchmarks.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Limitations: Traditional methods focus on single-disease risk in isolation.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Innovation: This project evaluates integrated cardiometabolic risk by modeling secondary correlations.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Clinical Evidence: Medical literature confirms renal dysfunction and metabolic imbalances as critical co-predictors of vascular pathology.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Feasibility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Technical: Prototype developed using Python (FastAPI, Scikit-Learn) for low-latency execution.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Data: Validated clinical records from UCI and Kaggle repositories ensure objective training.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Inference: Optimized for low-latency performance suitable for real-time clinical diagnostics.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Scale: Automated screening facilitates early intervention, mitigating chronic disease progression.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System Architecture</a:t>
            </a:r>
          </a:p>
        </p:txBody>
      </p:sp>
      <p:sp>
        <p:nvSpPr>
          <p:cNvPr id="3" name="Octagon 2"/>
          <p:cNvSpPr/>
          <p:nvPr/>
        </p:nvSpPr>
        <p:spPr>
          <a:xfrm>
            <a:off x="2743200" y="1097280"/>
            <a:ext cx="3657600" cy="0"/>
          </a:xfrm>
          <a:prstGeom prst="octagon">
            <a:avLst/>
          </a:prstGeom>
          <a:solidFill>
            <a:srgbClr val="F0F0F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Patient Data Input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0" y="1691640"/>
            <a:ext cx="0" cy="274320"/>
          </a:xfrm>
          <a:prstGeom prst="line">
            <a:avLst/>
          </a:prstGeom>
          <a:ln w="25400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ctagon 4"/>
          <p:cNvSpPr/>
          <p:nvPr/>
        </p:nvSpPr>
        <p:spPr>
          <a:xfrm>
            <a:off x="2743200" y="1828800"/>
            <a:ext cx="3657600" cy="0"/>
          </a:xfrm>
          <a:prstGeom prst="octagon">
            <a:avLst/>
          </a:prstGeom>
          <a:solidFill>
            <a:srgbClr val="F0F0F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FastAPI Backend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2423160"/>
            <a:ext cx="0" cy="274320"/>
          </a:xfrm>
          <a:prstGeom prst="line">
            <a:avLst/>
          </a:prstGeom>
          <a:ln w="25400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ctagon 6"/>
          <p:cNvSpPr/>
          <p:nvPr/>
        </p:nvSpPr>
        <p:spPr>
          <a:xfrm>
            <a:off x="2743200" y="2560320"/>
            <a:ext cx="3657600" cy="0"/>
          </a:xfrm>
          <a:prstGeom prst="octagon">
            <a:avLst/>
          </a:prstGeom>
          <a:solidFill>
            <a:srgbClr val="F0F0F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Preprocessing Pipeline (Scaling + Imputation)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3154680"/>
            <a:ext cx="0" cy="274320"/>
          </a:xfrm>
          <a:prstGeom prst="line">
            <a:avLst/>
          </a:prstGeom>
          <a:ln w="25400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ctagon 8"/>
          <p:cNvSpPr/>
          <p:nvPr/>
        </p:nvSpPr>
        <p:spPr>
          <a:xfrm>
            <a:off x="2743200" y="3291840"/>
            <a:ext cx="3657600" cy="0"/>
          </a:xfrm>
          <a:prstGeom prst="octagon">
            <a:avLst/>
          </a:prstGeom>
          <a:solidFill>
            <a:srgbClr val="F0F0F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Machine Learning Models (LR, RF, SVM, Ensembles)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0" y="3886200"/>
            <a:ext cx="0" cy="274320"/>
          </a:xfrm>
          <a:prstGeom prst="line">
            <a:avLst/>
          </a:prstGeom>
          <a:ln w="25400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ctagon 10"/>
          <p:cNvSpPr/>
          <p:nvPr/>
        </p:nvSpPr>
        <p:spPr>
          <a:xfrm>
            <a:off x="2743200" y="4023360"/>
            <a:ext cx="3657600" cy="0"/>
          </a:xfrm>
          <a:prstGeom prst="octagon">
            <a:avLst/>
          </a:prstGeom>
          <a:solidFill>
            <a:srgbClr val="F0F0F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Disease Risk Predictions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0" y="4617720"/>
            <a:ext cx="0" cy="274320"/>
          </a:xfrm>
          <a:prstGeom prst="line">
            <a:avLst/>
          </a:prstGeom>
          <a:ln w="25400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ctagon 12"/>
          <p:cNvSpPr/>
          <p:nvPr/>
        </p:nvSpPr>
        <p:spPr>
          <a:xfrm>
            <a:off x="2743200" y="4754880"/>
            <a:ext cx="3657600" cy="0"/>
          </a:xfrm>
          <a:prstGeom prst="octagon">
            <a:avLst/>
          </a:prstGeom>
          <a:solidFill>
            <a:srgbClr val="F0F0F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CHRI Risk Score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5349240"/>
            <a:ext cx="0" cy="274320"/>
          </a:xfrm>
          <a:prstGeom prst="line">
            <a:avLst/>
          </a:prstGeom>
          <a:ln w="25400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ctagon 14"/>
          <p:cNvSpPr/>
          <p:nvPr/>
        </p:nvSpPr>
        <p:spPr>
          <a:xfrm>
            <a:off x="2743200" y="5486400"/>
            <a:ext cx="3657600" cy="0"/>
          </a:xfrm>
          <a:prstGeom prst="octagon">
            <a:avLst/>
          </a:prstGeom>
          <a:solidFill>
            <a:srgbClr val="F0F0F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Clinical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Imputation: Median Imputation used for missing clinical attributes (BMI, Insulin).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Encoding: Categorical binarization and One-Hot encoding for demographic variables.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Standardization: Robust Scaling applied to handle biological outliers effectively.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Serialization: Integrated preprocessing logic maintains consistency across training and inference.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Handling Class Imbalance (SMOTE)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Challenge: Significant class imbalance in specific domains (e.g., 5% Stroke positive prevalence).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SMOTE: Synthetic Minority Over-sampling Technique used to balance class distributions during training.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Impact: Improved model sensitivity (Recall), ensuring high-risk patients are not misclassified as negative.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Model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Strategy: Prioritized Recall (Sensitivity) over Accuracy to minimize clinical false negatives.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Tuning: Hyperparameter optimization via GridSearchCV for optimal regularization and depth.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Outcome: Detection performance for critical cases improved by over 80% through sensitivity targeting.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Verification: Model reliability confirmed via Precision-Recall analysis for clinical safety.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Ensemble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Ensembles: Implementation of Soft Voting Consensus and Stacking architectures.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Meta-Learner: Aggregates modular predictions to improve overall system generalization.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Optimization (Diabetes Case):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Identified performance bottlenecks in base estimators.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Executed modular pruning and threshold adjustment to 0.4.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Improved detection rate (Recall) from 63% to 87%.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Performance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146304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Disease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Recall (Sensitivity)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Model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Model Status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Heart Disease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Voting Ensemble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Production-Ready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Diabetes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0.826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Optimized Voting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Qualified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Stroke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0.838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Balanced 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Validated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CKD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Stacked Consensus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Finalized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Deployment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Backend: FastAPI core providing low-latency inference for real-time clinical decision support.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Serialization: Serialized .joblib pipelines integrate preprocessing and production models.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Integrity: Pydantic schemas enforce strict data validation for clinical inputs.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Interface: RESTful endpoints facilitate seamless dashboard and system integration.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CHRI Risk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Core Concept: The CHRI score aggregates probabilities from multiple disease prediction models to produce a single integrated cardiometabolic risk indicator.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Formula: CHRI = 0.35 * P(Heart) + 0.30 * P(Stroke) + 0.20 * P(Diabetes) + 0.15 * P(CKD)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Weights: Selected heuristically based on cardiovascular mortality impact and prevalence reported in clinical literature.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Clinical Logic: Higher weights assigned to acute events (Heart/Stroke) due to immediate risk profiles.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Explainable AI (XAI)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Interpretability: Permutation Importance identifies clinically significant predictive features.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Alignment: Model dependencies (e.g., Glucose for Diabetes) correlate with international medical guidelines.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Clinical Insight: Empowers clinicians with transparency into the AI's risk assessment factors.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Reliability: Minimizes the 'Black Box' effect by validating biological marker prioritization.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Project Timeline &amp; Phase Status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18288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Project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Accomplishment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t>Data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Preprocessing, Scaling, and SMOTE balancing.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COMPLETED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t>Model 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Hyperparameter optimization via GridSearchCV.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COMPLETED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t>Ensemble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Voting/Stacking &amp; Case-specific Pruning.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COMPLETED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t>Inference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FastAPI implementation and model deployment.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COMPLETED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t>User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Dashboard visual integration and risk gauges.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PROGRESS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Integrated multi-disease prediction framework that evaluates cardiometabolic risk holistically.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Recall-optimized machine learning models designed for high clinical sensitivity.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Deployment-ready FastAPI inference architecture supporting real-time hospital integration.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Introduction of the CHRI global score as a unified cardiometabolic risk indicator.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Future Work: Final dashboard visual refinement and system-wide clinical stress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