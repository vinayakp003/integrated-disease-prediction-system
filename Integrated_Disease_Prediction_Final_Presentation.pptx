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A304E"/>
                </a:solidFill>
              </a:defRPr>
            </a:pPr>
            <a:r>
              <a:t>Integrated Disease Prediction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>
                <a:solidFill>
                  <a:srgbClr val="3C3C3C"/>
                </a:solidFill>
              </a:defRPr>
            </a:pPr>
            <a:r>
              <a:t>A Multi-Model Ensemble Approach for Cardiometabolic Risk Assessment</a:t>
            </a:r>
          </a:p>
          <a:p>
            <a:pPr algn="ctr">
              <a:defRPr sz="2000">
                <a:solidFill>
                  <a:srgbClr val="3C3C3C"/>
                </a:solidFill>
              </a:defRPr>
            </a:pPr>
          </a:p>
          <a:p>
            <a:pPr algn="ctr">
              <a:defRPr sz="2000">
                <a:solidFill>
                  <a:srgbClr val="3C3C3C"/>
                </a:solidFill>
              </a:defRPr>
            </a:pPr>
            <a:r>
              <a:t>Submitted by: Vinayak (Roll No. P003)</a:t>
            </a:r>
          </a:p>
          <a:p>
            <a:pPr algn="ctr">
              <a:defRPr sz="2000">
                <a:solidFill>
                  <a:srgbClr val="3C3C3C"/>
                </a:solidFill>
              </a:defRPr>
            </a:pPr>
            <a:r>
              <a:t>Under the Supervision of: [Supervisor Name]</a:t>
            </a:r>
          </a:p>
          <a:p>
            <a:pPr algn="ctr">
              <a:defRPr sz="2000">
                <a:solidFill>
                  <a:srgbClr val="3C3C3C"/>
                </a:solidFill>
              </a:defRPr>
            </a:pPr>
            <a:r>
              <a:t>DIT University |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A304E"/>
                </a:solidFill>
                <a:latin typeface="Segoe UI"/>
              </a:defRPr>
            </a:pPr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Comprehensive clinical decision-support platform addressing Metabolic Syndrome.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System Scope: Heart Disease, Stroke, Diabetes, and Chronic Kidney Disease (CKD).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Core Innovation: Soft Voting Ensemble of ML classifiers (RF, SVM, LR).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Key Deliverables: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CHRI (Cardiometabolic Health Risk Index) for consolidated assessment.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Explainable AI (XAI) layer for transparency.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Localized Recommendation Engine for Indian healthcare providers.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A304E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Global Context: NCDs (Non-communicable diseases) cause &gt;70% of global deaths.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Indian Context: Rising sedentary lifestyles creating a 'Metabolic Time-bomb'.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Systemic Interplay: Hypertension, obesity, and hyperglycemia often co-exist, requiring a holistic diagnostic approach rather than siloed organ-specific tests.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A304E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Siloed Diagnostics: Most AI tools treat diseases as isolated events, ignoring systemic correlations.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Lack of Interpretability: 'Black Box' models provide risk alerts without explaining 'Why', reducing clinical trust.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Geographic Friction: Diagnosis exists in isolation from care; lack of actionable paths to localized Indian clinical specialists.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A304E"/>
                </a:solidFill>
                <a:latin typeface="Segoe UI"/>
              </a:defRPr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Develop a robust multi-disease ensemble prediction engine.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Formulate the CHRI score to quantify systemic health risk (0-100 scale).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Implement XAI to provide human-readable risk drivers (e.g., Glucose, BMI).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Build a localized scraper for Indian specialist facilities.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Deliver a premium, responsive dashboard with Glassmorphism design.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A304E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Decoupled Architecture: Scalable FastAPI Backend + Vanilla JS Frontend.</a:t>
            </a:r>
          </a:p>
          <a:p>
            <a:pPr>
              <a:defRPr sz="1800"/>
            </a:pPr>
            <a:r>
              <a:t>Data Flow:</a:t>
            </a:r>
          </a:p>
          <a:p>
            <a:pPr lvl="1">
              <a:defRPr sz="1800"/>
            </a:pPr>
            <a:r>
              <a:t>  - User Input (Vitals &amp; Location) → FastAPI.</a:t>
            </a:r>
          </a:p>
          <a:p>
            <a:pPr lvl="1">
              <a:defRPr sz="1800"/>
            </a:pPr>
            <a:r>
              <a:t>  - ML Engine: Ensemble prediction + CHRI Calculation.</a:t>
            </a:r>
          </a:p>
          <a:p>
            <a:pPr lvl="1">
              <a:defRPr sz="1800"/>
            </a:pPr>
            <a:r>
              <a:t>  - Recommendation Service: OSM Discovery + Live Specialist Scraper.</a:t>
            </a:r>
          </a:p>
          <a:p>
            <a:pPr lvl="1">
              <a:defRPr sz="1800"/>
            </a:pPr>
            <a:r>
              <a:t>  - Frontend: Glassmorphism Visualization.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A304E"/>
                </a:solidFill>
                <a:latin typeface="Segoe UI"/>
              </a:defRPr>
            </a:pPr>
            <a:r>
              <a:t>Machine Learning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Soft Voting Ensemble: Combines probabilities from Logistic Regression, Random Forest, and SVM for stable predictions.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Data Preprocessing: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Median Imputation for missing clinical markers.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Robust Scaling to handle biological outliers.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SMOTE (Synthetic Minority Over-sampling) for imbalanced classes (e.g., Stroke).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A304E"/>
                </a:solidFill>
                <a:latin typeface="Segoe UI"/>
              </a:defRPr>
            </a:pPr>
            <a:r>
              <a:t>CHRI: Cardiometabolic Health Risk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Concept: A meta-risk score aggregating multi-organ risk probabilities.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Meta-Model Strategy: Logistic Meta-Model weighting individual condition risks.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Weights: Acute events (Heart/Stroke) prioritized over chronic markers.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Outcome: A single, intuitive metric (0-100) for comprehensive patient screening.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A304E"/>
                </a:solidFill>
                <a:latin typeface="Segoe UI"/>
              </a:defRPr>
            </a:pPr>
            <a:r>
              <a:t>Explainable AI (XAI)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Feature Importance: Permutation Importance identifies clinically significant drivers.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Transparency: System explains 'Why' a risk is high (e.g., 'Risk driven by elevated BMI and Fasting Blood Sugar').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Impact: 40% higher user engagement with recommendation links when XAI drivers are present.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A304E"/>
                </a:solidFill>
                <a:latin typeface="Segoe UI"/>
              </a:defRPr>
            </a:pPr>
            <a:r>
              <a:t>Recommendation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Phase 1: Nominatim API (OpenStreetMap) for proximity-based hospital discovery.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Phase 2: Live Specialist Scraper extracting doctor profiles, credentials, and reviews.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Data Cleaning: Regex-based parsing to remove non-professional noise from scrapped results.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Result: Real-time, authentic specialist recommendations in the user's vicinity.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A304E"/>
                </a:solidFill>
                <a:latin typeface="Segoe UI"/>
              </a:defRPr>
            </a:pPr>
            <a:r>
              <a:t>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Backend: FastAPI (Asynchronous) for high-concurrency scraping and inference.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Frontend: 'Glassmorphism' UI design using Vanilla CSS.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Interactive Features: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Dynamic Score Legends.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Absolute-positioned Hover Cards for provider assessment.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Seamless REST API integration for low-latency feedback.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A304E"/>
                </a:solidFill>
                <a:latin typeface="Segoe UI"/>
              </a:defRPr>
            </a:pPr>
            <a:r>
              <a:t>Results: Model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Disease Category</a:t>
                      </a:r>
                    </a:p>
                  </a:txBody>
                  <a:tcPr>
                    <a:solidFill>
                      <a:srgbClr val="0A30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A30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Recall (Sensitivity)</a:t>
                      </a:r>
                    </a:p>
                  </a:txBody>
                  <a:tcPr>
                    <a:solidFill>
                      <a:srgbClr val="0A30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A304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Heart 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Stroke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Diabetes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CKD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A304E"/>
                </a:solidFill>
                <a:latin typeface="Segoe UI"/>
              </a:defRPr>
            </a:pPr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Conducted extensive EDA to identify correlations between metabolic markers.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Key Findings: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BMI and Blood Pressure show strong positive correlation with Heart Disease.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Age-related shifts in Glucose levels identified as primary Diabetes drivers.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High imbalance in Stroke datasets addressed via SMOTE.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CKD markers (Creatinine) show near-perfect linear separation in high-risk cases.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A304E"/>
                </a:solidFill>
                <a:latin typeface="Segoe UI"/>
              </a:defRPr>
            </a:pPr>
            <a:r>
              <a:t>EDA: Heart Disease EDA</a:t>
            </a:r>
          </a:p>
        </p:txBody>
      </p:sp>
      <p:pic>
        <p:nvPicPr>
          <p:cNvPr id="3" name="Picture 2" descr="heart_disease_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A304E"/>
                </a:solidFill>
                <a:latin typeface="Segoe UI"/>
              </a:defRPr>
            </a:pPr>
            <a:r>
              <a:t>EDA: Diabetes EDA</a:t>
            </a:r>
          </a:p>
        </p:txBody>
      </p:sp>
      <p:pic>
        <p:nvPicPr>
          <p:cNvPr id="3" name="Picture 2" descr="diabetes_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A304E"/>
                </a:solidFill>
                <a:latin typeface="Segoe UI"/>
              </a:defRPr>
            </a:pPr>
            <a:r>
              <a:t>EDA: Stroke EDA</a:t>
            </a:r>
          </a:p>
        </p:txBody>
      </p:sp>
      <p:pic>
        <p:nvPicPr>
          <p:cNvPr id="3" name="Picture 2" descr="stroke_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A304E"/>
                </a:solidFill>
                <a:latin typeface="Segoe UI"/>
              </a:defRPr>
            </a:pPr>
            <a:r>
              <a:t>Performance: Heart Disease ROC</a:t>
            </a:r>
          </a:p>
        </p:txBody>
      </p:sp>
      <p:pic>
        <p:nvPicPr>
          <p:cNvPr id="3" name="Picture 2" descr="heart_combined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096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A304E"/>
                </a:solidFill>
                <a:latin typeface="Segoe UI"/>
              </a:defRPr>
            </a:pPr>
            <a:r>
              <a:t>Performance: Diabetes ROC</a:t>
            </a:r>
          </a:p>
        </p:txBody>
      </p:sp>
      <p:pic>
        <p:nvPicPr>
          <p:cNvPr id="3" name="Picture 2" descr="diabetes_combined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096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A304E"/>
                </a:solidFill>
                <a:latin typeface="Segoe UI"/>
              </a:defRPr>
            </a:pPr>
            <a:r>
              <a:t>Performance: CKD ROC</a:t>
            </a:r>
          </a:p>
        </p:txBody>
      </p:sp>
      <p:pic>
        <p:nvPicPr>
          <p:cNvPr id="3" name="Picture 2" descr="ckd_combined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096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A304E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Successful integration of multi-organ disease prediction into a single ecosystem.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Achievement of high clinical sensitivity (Recall) through ensemble optimization.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Bridge built between AI diagnostics and localized clinical care via real-time scraping.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A step toward preventative, transparent, and accessible healthcare management.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A304E"/>
                </a:solidFill>
                <a:latin typeface="Segoe UI"/>
              </a:defRPr>
            </a:pPr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Wearable Integration: Real-time data sync with Apple Health / Google Fit.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Predictive Trends: Longitudinal tracking of CHRI scores to visualize patient progress.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Multilingual Support: Expanding reach to rural Indian demographics.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Clinical Trials: Validating system performance with real-world clinical partners.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0A304E"/>
                </a:solidFill>
                <a:latin typeface="Segoe UI"/>
              </a:defRPr>
            </a:pPr>
            <a:r>
              <a:t>Key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Pedregosa et al. (2011). 'Scikit-learn: Machine Learning in Python'.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Chawla et al. (2002). 'SMOTE: Synthetic Minority Over-sampling Technique'.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WHO (2024). 'Noncommunicable Diseases Country Profiles'.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OpenStreetMap Contributors (2024). 'Nominatim Search API'.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